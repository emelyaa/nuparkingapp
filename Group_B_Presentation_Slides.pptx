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khE8K4bHVWeC8xYLnHMxnZt13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3"/>
    <p:restoredTop sz="94694"/>
  </p:normalViewPr>
  <p:slideViewPr>
    <p:cSldViewPr snapToGrid="0">
      <p:cViewPr varScale="1">
        <p:scale>
          <a:sx n="114" d="100"/>
          <a:sy n="114" d="100"/>
        </p:scale>
        <p:origin x="6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3E1EDDF5-0E68-855D-5161-3401B3E3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>
            <a:extLst>
              <a:ext uri="{FF2B5EF4-FFF2-40B4-BE49-F238E27FC236}">
                <a16:creationId xmlns:a16="http://schemas.microsoft.com/office/drawing/2014/main" id="{9E466AC5-C355-297D-171D-657F3F8DB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>
            <a:extLst>
              <a:ext uri="{FF2B5EF4-FFF2-40B4-BE49-F238E27FC236}">
                <a16:creationId xmlns:a16="http://schemas.microsoft.com/office/drawing/2014/main" id="{06CCCA7E-EEB9-EBBE-5B96-F3B5B33A7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437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2">
  <p:cSld name="Divider Slide 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>
            <a:spLocks noGrp="1"/>
          </p:cNvSpPr>
          <p:nvPr>
            <p:ph type="pic" idx="2"/>
          </p:nvPr>
        </p:nvSpPr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17" name="Google Shape;17;p13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8" name="Google Shape;18;p13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" name="Google Shape;19;p1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4506094" y="4127455"/>
            <a:ext cx="4351910" cy="29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>
  <p:cSld name="Divider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>
            <a:spLocks noGrp="1"/>
          </p:cNvSpPr>
          <p:nvPr>
            <p:ph type="pic" idx="2"/>
          </p:nvPr>
        </p:nvSpPr>
        <p:spPr>
          <a:xfrm>
            <a:off x="2264229" y="0"/>
            <a:ext cx="9927771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27" name="Google Shape;27;p14"/>
          <p:cNvGrpSpPr/>
          <p:nvPr/>
        </p:nvGrpSpPr>
        <p:grpSpPr>
          <a:xfrm>
            <a:off x="883522" y="408327"/>
            <a:ext cx="5276606" cy="5768636"/>
            <a:chOff x="883522" y="408327"/>
            <a:chExt cx="5276606" cy="5768636"/>
          </a:xfrm>
        </p:grpSpPr>
        <p:sp>
          <p:nvSpPr>
            <p:cNvPr id="28" name="Google Shape;28;p14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29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25781" y="110728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14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838200" y="1501775"/>
            <a:ext cx="4351911" cy="2384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838199" y="3886241"/>
            <a:ext cx="4351910" cy="29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ontent">
  <p:cSld name="Picture with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>
            <a:spLocks noGrp="1"/>
          </p:cNvSpPr>
          <p:nvPr>
            <p:ph type="pic" idx="2"/>
          </p:nvPr>
        </p:nvSpPr>
        <p:spPr>
          <a:xfrm>
            <a:off x="6727370" y="0"/>
            <a:ext cx="546462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5"/>
          <p:cNvSpPr/>
          <p:nvPr/>
        </p:nvSpPr>
        <p:spPr>
          <a:xfrm>
            <a:off x="609600" y="391887"/>
            <a:ext cx="7075714" cy="5878284"/>
          </a:xfrm>
          <a:prstGeom prst="rect">
            <a:avLst/>
          </a:prstGeom>
          <a:noFill/>
          <a:ln w="127000" cap="flat" cmpd="sng">
            <a:solidFill>
              <a:srgbClr val="2F334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5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5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  <a:defRPr sz="32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None/>
              <a:defRPr sz="1600">
                <a:solidFill>
                  <a:srgbClr val="2F334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3"/>
          </p:nvPr>
        </p:nvSpPr>
        <p:spPr>
          <a:xfrm>
            <a:off x="979714" y="2095547"/>
            <a:ext cx="4958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>
            <a:spLocks noGrp="1"/>
          </p:cNvSpPr>
          <p:nvPr>
            <p:ph type="pic" idx="2"/>
          </p:nvPr>
        </p:nvSpPr>
        <p:spPr>
          <a:xfrm>
            <a:off x="1" y="0"/>
            <a:ext cx="724988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47" name="Google Shape;47;p16"/>
          <p:cNvGrpSpPr/>
          <p:nvPr/>
        </p:nvGrpSpPr>
        <p:grpSpPr>
          <a:xfrm flipH="1">
            <a:off x="4115984" y="252563"/>
            <a:ext cx="7433283" cy="5995838"/>
            <a:chOff x="252031" y="391887"/>
            <a:chExt cx="7433283" cy="6215741"/>
          </a:xfrm>
        </p:grpSpPr>
        <p:sp>
          <p:nvSpPr>
            <p:cNvPr id="48" name="Google Shape;48;p16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 cap="flat" cmpd="sng">
              <a:solidFill>
                <a:srgbClr val="2F334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6"/>
            <p:cNvSpPr/>
            <p:nvPr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6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5510539" y="916440"/>
            <a:ext cx="6117771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  <a:defRPr sz="32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1"/>
          </p:nvPr>
        </p:nvSpPr>
        <p:spPr>
          <a:xfrm>
            <a:off x="5510539" y="1962673"/>
            <a:ext cx="6117771" cy="367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2pPr>
            <a:lvl3pPr marL="1371600" lvl="2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3"/>
          </p:nvPr>
        </p:nvSpPr>
        <p:spPr>
          <a:xfrm>
            <a:off x="5535810" y="1555002"/>
            <a:ext cx="6076915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with Image">
  <p:cSld name="Comparison with Imag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  <a:defRPr sz="24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2"/>
          </p:nvPr>
        </p:nvSpPr>
        <p:spPr>
          <a:xfrm>
            <a:off x="573882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marL="914400" lvl="1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3pPr>
            <a:lvl4pPr marL="1828800" lvl="3" indent="-29845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4pPr>
            <a:lvl5pPr marL="2286000" lvl="4" indent="-29845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3"/>
          </p:nvPr>
        </p:nvSpPr>
        <p:spPr>
          <a:xfrm>
            <a:off x="8153400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  <a:defRPr sz="24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4"/>
          </p:nvPr>
        </p:nvSpPr>
        <p:spPr>
          <a:xfrm>
            <a:off x="8153400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marL="914400" lvl="1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3pPr>
            <a:lvl4pPr marL="1828800" lvl="3" indent="-29845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4pPr>
            <a:lvl5pPr marL="2286000" lvl="4" indent="-29845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 cap="flat" cmpd="sng">
            <a:solidFill>
              <a:srgbClr val="2F334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>
            <a:spLocks noGrp="1"/>
          </p:cNvSpPr>
          <p:nvPr>
            <p:ph type="pic" idx="5"/>
          </p:nvPr>
        </p:nvSpPr>
        <p:spPr>
          <a:xfrm>
            <a:off x="4659082" y="489291"/>
            <a:ext cx="2873833" cy="5920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">
  <p:cSld name="Large Imag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8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Image">
  <p:cSld name="Title and Content with Imag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>
            <a:spLocks noGrp="1"/>
          </p:cNvSpPr>
          <p:nvPr>
            <p:ph type="pic" idx="2"/>
          </p:nvPr>
        </p:nvSpPr>
        <p:spPr>
          <a:xfrm>
            <a:off x="2264229" y="0"/>
            <a:ext cx="491915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437804" y="1676400"/>
            <a:ext cx="5196241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7639394" y="365125"/>
            <a:ext cx="4114801" cy="581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2" name="Google Shape;8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9938" y="1088572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0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6400191" y="470641"/>
            <a:ext cx="5220309" cy="59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7" name="Google Shape;87;p21"/>
          <p:cNvGrpSpPr/>
          <p:nvPr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88" name="Google Shape;88;p21"/>
            <p:cNvSpPr/>
            <p:nvPr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 cap="flat" cmpd="sng">
              <a:solidFill>
                <a:srgbClr val="2F334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599167" y="1099002"/>
            <a:ext cx="4226024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  <a:defRPr sz="3200" b="1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599167" y="2145234"/>
            <a:ext cx="4226024" cy="385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2pPr>
            <a:lvl3pPr marL="1371600" lvl="2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3"/>
          </p:nvPr>
        </p:nvSpPr>
        <p:spPr>
          <a:xfrm>
            <a:off x="611804" y="1737564"/>
            <a:ext cx="4197802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2"/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98" name="Google Shape;98;p22"/>
            <p:cNvSpPr/>
            <p:nvPr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2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2"/>
          <p:cNvSpPr txBox="1">
            <a:spLocks noGrp="1"/>
          </p:cNvSpPr>
          <p:nvPr>
            <p:ph type="ctrTitle"/>
          </p:nvPr>
        </p:nvSpPr>
        <p:spPr>
          <a:xfrm>
            <a:off x="2791372" y="2238426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2791372" y="3838627"/>
            <a:ext cx="6609256" cy="450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3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05" name="Google Shape;105;p23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106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3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1"/>
          </p:nvPr>
        </p:nvSpPr>
        <p:spPr>
          <a:xfrm>
            <a:off x="4506094" y="4127455"/>
            <a:ext cx="4351911" cy="29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24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4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/>
          <p:nvPr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4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8153395" y="1061132"/>
            <a:ext cx="346472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3"/>
          </p:nvPr>
        </p:nvSpPr>
        <p:spPr>
          <a:xfrm>
            <a:off x="8153394" y="2108201"/>
            <a:ext cx="346472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4"/>
          </p:nvPr>
        </p:nvSpPr>
        <p:spPr>
          <a:xfrm>
            <a:off x="573882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/>
          <p:nvPr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571500" y="1431586"/>
            <a:ext cx="3467099" cy="436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2"/>
          </p:nvPr>
        </p:nvSpPr>
        <p:spPr>
          <a:xfrm>
            <a:off x="8153394" y="1431586"/>
            <a:ext cx="3467106" cy="436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1159727" y="1224451"/>
            <a:ext cx="4226024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6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6294478" y="587829"/>
            <a:ext cx="5326022" cy="527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7" name="Google Shape;137;p26"/>
          <p:cNvSpPr/>
          <p:nvPr/>
        </p:nvSpPr>
        <p:spPr>
          <a:xfrm>
            <a:off x="657060" y="698704"/>
            <a:ext cx="4473025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26"/>
          <p:cNvGrpSpPr/>
          <p:nvPr/>
        </p:nvGrpSpPr>
        <p:grpSpPr>
          <a:xfrm>
            <a:off x="657060" y="435124"/>
            <a:ext cx="5134751" cy="5965370"/>
            <a:chOff x="252031" y="391887"/>
            <a:chExt cx="7433283" cy="5965370"/>
          </a:xfrm>
        </p:grpSpPr>
        <p:sp>
          <p:nvSpPr>
            <p:cNvPr id="139" name="Google Shape;139;p26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26"/>
          <p:cNvSpPr txBox="1">
            <a:spLocks noGrp="1"/>
          </p:cNvSpPr>
          <p:nvPr>
            <p:ph type="body" idx="2"/>
          </p:nvPr>
        </p:nvSpPr>
        <p:spPr>
          <a:xfrm>
            <a:off x="609601" y="2546851"/>
            <a:ext cx="4101084" cy="339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609601" y="1480457"/>
            <a:ext cx="4101084" cy="97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7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 descr="Open square accent block"/>
          <p:cNvSpPr/>
          <p:nvPr/>
        </p:nvSpPr>
        <p:spPr>
          <a:xfrm flipH="1">
            <a:off x="2685137" y="972457"/>
            <a:ext cx="9172647" cy="4843807"/>
          </a:xfrm>
          <a:prstGeom prst="rect">
            <a:avLst/>
          </a:prstGeom>
          <a:noFill/>
          <a:ln w="88900" cap="flat" cmpd="sng">
            <a:solidFill>
              <a:srgbClr val="2F334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/>
          <p:nvPr/>
        </p:nvSpPr>
        <p:spPr>
          <a:xfrm flipH="1">
            <a:off x="333834" y="1547133"/>
            <a:ext cx="11026363" cy="4702292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471340" y="1189038"/>
            <a:ext cx="11149160" cy="48341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body" idx="1"/>
          </p:nvPr>
        </p:nvSpPr>
        <p:spPr>
          <a:xfrm>
            <a:off x="595884" y="1188720"/>
            <a:ext cx="11024616" cy="49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hyperlink" Target="https://commons.wikimedia.org/wiki/File:Old_BMW_motorcycle_at_Millingen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JPG"/><Relationship Id="rId5" Type="http://schemas.openxmlformats.org/officeDocument/2006/relationships/hyperlink" Target="https://commons.wikimedia.org/wiki/File:Big_South_American_dump_truck.jpg" TargetMode="External"/><Relationship Id="rId4" Type="http://schemas.openxmlformats.org/officeDocument/2006/relationships/image" Target="../media/image16.jpg"/><Relationship Id="rId9" Type="http://schemas.openxmlformats.org/officeDocument/2006/relationships/hyperlink" Target="https://pxhere.com/en/photo/1065506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 descr="City Scape" title="City Scap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160" name="Google Shape;160;p1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1"/>
          <p:cNvGrpSpPr/>
          <p:nvPr/>
        </p:nvGrpSpPr>
        <p:grpSpPr>
          <a:xfrm rot="10800000">
            <a:off x="757257" y="344016"/>
            <a:ext cx="6549736" cy="5768636"/>
            <a:chOff x="883522" y="408327"/>
            <a:chExt cx="5276606" cy="5768636"/>
          </a:xfrm>
        </p:grpSpPr>
        <p:sp>
          <p:nvSpPr>
            <p:cNvPr id="162" name="Google Shape;162;p1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3" name="Google Shape;163;p1" descr="Open squar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"/>
          <p:cNvSpPr txBox="1">
            <a:spLocks noGrp="1"/>
          </p:cNvSpPr>
          <p:nvPr>
            <p:ph type="title"/>
          </p:nvPr>
        </p:nvSpPr>
        <p:spPr>
          <a:xfrm>
            <a:off x="2392166" y="2343530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 sz="2200"/>
              <a:t>NORTHEASTERN UNIVERSITY</a:t>
            </a:r>
            <a:br>
              <a:rPr lang="en-US" sz="2200"/>
            </a:br>
            <a:br>
              <a:rPr lang="en-US" sz="2200"/>
            </a:br>
            <a:r>
              <a:rPr lang="en-US"/>
              <a:t> PARKING LOT MANAGEMENT SYSTEM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2381702" y="4920509"/>
            <a:ext cx="4925291" cy="88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Alex Pavlukov, Douglas Aldridge, Emely Andrade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5100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" descr="Building" title="Buildi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64229" y="0"/>
            <a:ext cx="9927771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grpSp>
        <p:nvGrpSpPr>
          <p:cNvPr id="174" name="Google Shape;174;p2"/>
          <p:cNvGrpSpPr/>
          <p:nvPr/>
        </p:nvGrpSpPr>
        <p:grpSpPr>
          <a:xfrm>
            <a:off x="894521" y="450768"/>
            <a:ext cx="10402957" cy="5768636"/>
            <a:chOff x="883522" y="408327"/>
            <a:chExt cx="5276606" cy="5768636"/>
          </a:xfrm>
        </p:grpSpPr>
        <p:sp>
          <p:nvSpPr>
            <p:cNvPr id="175" name="Google Shape;175;p2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6" name="Google Shape;176;p2" descr="Open square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"/>
            <p:cNvSpPr/>
            <p:nvPr/>
          </p:nvSpPr>
          <p:spPr>
            <a:xfrm>
              <a:off x="883522" y="408327"/>
              <a:ext cx="4532706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"/>
          <p:cNvSpPr txBox="1">
            <a:spLocks noGrp="1"/>
          </p:cNvSpPr>
          <p:nvPr>
            <p:ph type="body" idx="1"/>
          </p:nvPr>
        </p:nvSpPr>
        <p:spPr>
          <a:xfrm>
            <a:off x="788480" y="1407627"/>
            <a:ext cx="7844407" cy="398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solidFill>
                  <a:schemeClr val="dk1"/>
                </a:solidFill>
              </a:rPr>
              <a:t>The aim of this project was to develop a user-friendly vehicle parking management system which would: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Determine the compatibility between different vehicle attributes and available parking spots</a:t>
            </a:r>
            <a:endParaRPr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Allow user to add and remove vehicles to and from various lots</a:t>
            </a:r>
            <a:endParaRPr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Record and display current status of each parking spot and details of the vehicles parked</a:t>
            </a:r>
            <a:endParaRPr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Validate user data inputs and interact back by printing common error and success messages to the console</a:t>
            </a:r>
            <a:br>
              <a:rPr lang="en-US" dirty="0"/>
            </a:br>
            <a:endParaRPr dirty="0"/>
          </a:p>
        </p:txBody>
      </p:sp>
      <p:sp>
        <p:nvSpPr>
          <p:cNvPr id="180" name="Google Shape;180;p2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82" name="Google Shape;182;p2"/>
          <p:cNvSpPr txBox="1">
            <a:spLocks noGrp="1"/>
          </p:cNvSpPr>
          <p:nvPr>
            <p:ph type="title"/>
          </p:nvPr>
        </p:nvSpPr>
        <p:spPr>
          <a:xfrm>
            <a:off x="595884" y="607933"/>
            <a:ext cx="7844407" cy="58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Font typeface="Calibri"/>
              <a:buNone/>
            </a:pPr>
            <a:r>
              <a:rPr lang="en-US" sz="2400" dirty="0"/>
              <a:t>FUNCTIONAL GOAL OF THE APPLICATION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" descr="two buildings" title="two buildings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27370" y="0"/>
            <a:ext cx="546462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"/>
          <p:cNvSpPr/>
          <p:nvPr/>
        </p:nvSpPr>
        <p:spPr>
          <a:xfrm>
            <a:off x="979714" y="1180761"/>
            <a:ext cx="7875094" cy="5426414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957943" y="655467"/>
            <a:ext cx="6893970" cy="48011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 txBox="1">
            <a:spLocks noGrp="1"/>
          </p:cNvSpPr>
          <p:nvPr>
            <p:ph type="title"/>
          </p:nvPr>
        </p:nvSpPr>
        <p:spPr>
          <a:xfrm>
            <a:off x="84255" y="777358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93" name="Google Shape;193;p3"/>
          <p:cNvSpPr txBox="1">
            <a:spLocks noGrp="1"/>
          </p:cNvSpPr>
          <p:nvPr>
            <p:ph type="body" idx="3"/>
          </p:nvPr>
        </p:nvSpPr>
        <p:spPr>
          <a:xfrm>
            <a:off x="1047921" y="1659438"/>
            <a:ext cx="4958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</a:pPr>
            <a:r>
              <a:rPr lang="en-US"/>
              <a:t>Steps followed</a:t>
            </a:r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body" idx="1"/>
          </p:nvPr>
        </p:nvSpPr>
        <p:spPr>
          <a:xfrm>
            <a:off x="943270" y="2318767"/>
            <a:ext cx="5894852" cy="339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Evaluating the Requirements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Technical Research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Functional Analysis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System Design Initial Development and Iterative Approach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UML Diagram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Testing and Code Refactoring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/>
              <a:t>Documentation and Presentation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</p:txBody>
      </p:sp>
      <p:sp>
        <p:nvSpPr>
          <p:cNvPr id="196" name="Google Shape;196;p3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" descr="City Scape" title="City Scap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498623" y="302629"/>
            <a:ext cx="4226024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ITERATIVE APPROACH</a:t>
            </a:r>
            <a:endParaRPr sz="4400" b="1" i="0" u="none" strike="noStrike" cap="none" dirty="0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>
            <a:spLocks noGrp="1"/>
          </p:cNvSpPr>
          <p:nvPr>
            <p:ph type="body" idx="1"/>
          </p:nvPr>
        </p:nvSpPr>
        <p:spPr>
          <a:xfrm>
            <a:off x="-619953" y="883655"/>
            <a:ext cx="4197802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</a:pPr>
            <a:r>
              <a:rPr lang="en-US" dirty="0"/>
              <a:t>Road to success</a:t>
            </a:r>
            <a:endParaRPr dirty="0"/>
          </a:p>
        </p:txBody>
      </p:sp>
      <p:sp>
        <p:nvSpPr>
          <p:cNvPr id="210" name="Google Shape;210;p4"/>
          <p:cNvSpPr txBox="1"/>
          <p:nvPr/>
        </p:nvSpPr>
        <p:spPr>
          <a:xfrm>
            <a:off x="97035" y="1486959"/>
            <a:ext cx="2785744" cy="15047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>
              <a:lnSpc>
                <a:spcPct val="90000"/>
              </a:lnSpc>
              <a:buClr>
                <a:schemeClr val="dk1"/>
              </a:buClr>
              <a:buSzPts val="2800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034" y="3075188"/>
            <a:ext cx="2785745" cy="3214370"/>
          </a:xfrm>
          <a:prstGeom prst="rect">
            <a:avLst/>
          </a:prstGeom>
          <a:noFill/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213" name="Google Shape;21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5819" y="3335132"/>
            <a:ext cx="2855918" cy="1962150"/>
          </a:xfrm>
          <a:prstGeom prst="rect">
            <a:avLst/>
          </a:prstGeom>
          <a:noFill/>
          <a:ln>
            <a:noFill/>
          </a:ln>
          <a:effectLst>
            <a:outerShdw blurRad="50800" dist="88900" dir="2520000" algn="ctr" rotWithShape="0">
              <a:schemeClr val="tx1">
                <a:lumMod val="65000"/>
                <a:lumOff val="35000"/>
              </a:schemeClr>
            </a:outerShdw>
          </a:effectLst>
        </p:spPr>
      </p:pic>
      <p:pic>
        <p:nvPicPr>
          <p:cNvPr id="214" name="Google Shape;214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8712" y="3335132"/>
            <a:ext cx="2684948" cy="2032000"/>
          </a:xfrm>
          <a:prstGeom prst="rect">
            <a:avLst/>
          </a:prstGeom>
          <a:noFill/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15" name="Google Shape;215;p4"/>
          <p:cNvSpPr txBox="1"/>
          <p:nvPr/>
        </p:nvSpPr>
        <p:spPr>
          <a:xfrm>
            <a:off x="3093373" y="1499509"/>
            <a:ext cx="2837448" cy="149217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216" name="Google Shape;216;p4"/>
          <p:cNvSpPr txBox="1"/>
          <p:nvPr/>
        </p:nvSpPr>
        <p:spPr>
          <a:xfrm>
            <a:off x="6127677" y="1499510"/>
            <a:ext cx="2675983" cy="149216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8997397" y="1495923"/>
            <a:ext cx="2675983" cy="15047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7397" y="3335132"/>
            <a:ext cx="2743200" cy="1943100"/>
          </a:xfrm>
          <a:prstGeom prst="rect">
            <a:avLst/>
          </a:prstGeom>
          <a:noFill/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9" name="Google Shape;302;p10">
            <a:extLst>
              <a:ext uri="{FF2B5EF4-FFF2-40B4-BE49-F238E27FC236}">
                <a16:creationId xmlns:a16="http://schemas.microsoft.com/office/drawing/2014/main" id="{AEF88BF7-321E-46D1-8320-E3CFFCD15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907" y="1570467"/>
            <a:ext cx="2636082" cy="162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lnSpc>
                <a:spcPct val="80000"/>
              </a:lnSpc>
              <a:buSzPts val="3200"/>
            </a:pPr>
            <a:r>
              <a:rPr lang="en-US" sz="2600" cap="none" dirty="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Version 1</a:t>
            </a:r>
            <a:br>
              <a:rPr lang="en-US" sz="3200" cap="none" dirty="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dirty="0"/>
            </a:br>
            <a:r>
              <a:rPr lang="en-US" sz="1300" b="0" dirty="0"/>
              <a:t>- Initial Program Development </a:t>
            </a:r>
            <a:br>
              <a:rPr lang="en-US" sz="1300" b="0" dirty="0"/>
            </a:br>
            <a:r>
              <a:rPr lang="en-US" sz="1300" b="0" dirty="0"/>
              <a:t>- Testing</a:t>
            </a:r>
            <a:br>
              <a:rPr lang="en-US" sz="1200" b="0" dirty="0"/>
            </a:br>
            <a:br>
              <a:rPr lang="en-US" sz="1200" b="0" cap="none" dirty="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0" name="Google Shape;302;p10">
            <a:extLst>
              <a:ext uri="{FF2B5EF4-FFF2-40B4-BE49-F238E27FC236}">
                <a16:creationId xmlns:a16="http://schemas.microsoft.com/office/drawing/2014/main" id="{8D078EE7-2587-4FA8-A307-5B4742894C23}"/>
              </a:ext>
            </a:extLst>
          </p:cNvPr>
          <p:cNvSpPr txBox="1">
            <a:spLocks/>
          </p:cNvSpPr>
          <p:nvPr/>
        </p:nvSpPr>
        <p:spPr>
          <a:xfrm>
            <a:off x="3126593" y="1560718"/>
            <a:ext cx="2804228" cy="162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80000"/>
              </a:lnSpc>
              <a:buSzPts val="3200"/>
            </a:pPr>
            <a:r>
              <a:rPr lang="en-US" sz="2900" dirty="0"/>
              <a:t>Version 2</a:t>
            </a:r>
            <a:br>
              <a:rPr lang="en-US" sz="3200" dirty="0"/>
            </a:br>
            <a:br>
              <a:rPr lang="en-US" sz="1200" b="0" dirty="0"/>
            </a:br>
            <a:r>
              <a:rPr lang="en-US" sz="1400" b="0" dirty="0"/>
              <a:t>- User Interface Integration Enhanced</a:t>
            </a:r>
          </a:p>
          <a:p>
            <a:pPr algn="l">
              <a:lnSpc>
                <a:spcPct val="80000"/>
              </a:lnSpc>
              <a:buSzPts val="3200"/>
            </a:pPr>
            <a:r>
              <a:rPr lang="en-US" sz="1400" b="0" dirty="0"/>
              <a:t>- Functionality</a:t>
            </a:r>
          </a:p>
          <a:p>
            <a:pPr algn="l">
              <a:lnSpc>
                <a:spcPct val="80000"/>
              </a:lnSpc>
              <a:buSzPts val="3200"/>
            </a:pPr>
            <a:br>
              <a:rPr lang="en-US" sz="1200" b="0" dirty="0"/>
            </a:br>
            <a:br>
              <a:rPr lang="en-US" sz="1200" b="0" dirty="0"/>
            </a:br>
            <a:endParaRPr lang="en-US" dirty="0"/>
          </a:p>
        </p:txBody>
      </p:sp>
      <p:sp>
        <p:nvSpPr>
          <p:cNvPr id="21" name="Google Shape;302;p10">
            <a:extLst>
              <a:ext uri="{FF2B5EF4-FFF2-40B4-BE49-F238E27FC236}">
                <a16:creationId xmlns:a16="http://schemas.microsoft.com/office/drawing/2014/main" id="{4AB4ED4F-4E5A-4A63-85AF-F148098212F5}"/>
              </a:ext>
            </a:extLst>
          </p:cNvPr>
          <p:cNvSpPr txBox="1">
            <a:spLocks/>
          </p:cNvSpPr>
          <p:nvPr/>
        </p:nvSpPr>
        <p:spPr>
          <a:xfrm>
            <a:off x="6260425" y="1570467"/>
            <a:ext cx="2743200" cy="162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80000"/>
              </a:lnSpc>
              <a:buSzPts val="3200"/>
            </a:pPr>
            <a:r>
              <a:rPr lang="en-US" sz="2900" dirty="0"/>
              <a:t>Version 3</a:t>
            </a:r>
            <a:br>
              <a:rPr lang="en-US" sz="3200" dirty="0"/>
            </a:br>
            <a:br>
              <a:rPr lang="en-US" sz="1200" b="0" dirty="0"/>
            </a:br>
            <a:r>
              <a:rPr lang="en-US" sz="1200" b="0" dirty="0"/>
              <a:t>- </a:t>
            </a:r>
            <a:r>
              <a:rPr lang="en-US" sz="1400" b="0" dirty="0"/>
              <a:t>Interactive Filtering</a:t>
            </a:r>
          </a:p>
          <a:p>
            <a:pPr algn="l">
              <a:lnSpc>
                <a:spcPct val="80000"/>
              </a:lnSpc>
              <a:buSzPts val="3200"/>
            </a:pPr>
            <a:r>
              <a:rPr lang="en-US" sz="1400" b="0" dirty="0"/>
              <a:t>- Enhanced Validation</a:t>
            </a:r>
          </a:p>
          <a:p>
            <a:pPr algn="l">
              <a:lnSpc>
                <a:spcPct val="80000"/>
              </a:lnSpc>
              <a:buSzPts val="3200"/>
            </a:pPr>
            <a:r>
              <a:rPr lang="en-US" sz="1400" b="0" dirty="0"/>
              <a:t>- </a:t>
            </a:r>
            <a:r>
              <a:rPr lang="en-US" sz="1400" b="0" dirty="0" err="1"/>
              <a:t>Unparking</a:t>
            </a:r>
            <a:r>
              <a:rPr lang="en-US" sz="1400" b="0" dirty="0"/>
              <a:t> Functionality</a:t>
            </a:r>
          </a:p>
          <a:p>
            <a:pPr algn="l">
              <a:lnSpc>
                <a:spcPct val="80000"/>
              </a:lnSpc>
              <a:buSzPts val="3200"/>
            </a:pPr>
            <a:br>
              <a:rPr lang="en-US" sz="1200" b="0" dirty="0"/>
            </a:br>
            <a:br>
              <a:rPr lang="en-US" sz="1200" b="0" dirty="0"/>
            </a:br>
            <a:endParaRPr lang="en-US" dirty="0"/>
          </a:p>
        </p:txBody>
      </p:sp>
      <p:sp>
        <p:nvSpPr>
          <p:cNvPr id="22" name="Google Shape;302;p10">
            <a:extLst>
              <a:ext uri="{FF2B5EF4-FFF2-40B4-BE49-F238E27FC236}">
                <a16:creationId xmlns:a16="http://schemas.microsoft.com/office/drawing/2014/main" id="{9B88C728-CC8A-4890-BB14-2342E2F00914}"/>
              </a:ext>
            </a:extLst>
          </p:cNvPr>
          <p:cNvSpPr txBox="1">
            <a:spLocks/>
          </p:cNvSpPr>
          <p:nvPr/>
        </p:nvSpPr>
        <p:spPr>
          <a:xfrm>
            <a:off x="9158060" y="1570467"/>
            <a:ext cx="2743200" cy="162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80000"/>
              </a:lnSpc>
              <a:buSzPts val="3200"/>
            </a:pPr>
            <a:r>
              <a:rPr lang="en-US" sz="2900"/>
              <a:t>Version 4</a:t>
            </a:r>
            <a:br>
              <a:rPr lang="en-US" sz="3200" dirty="0"/>
            </a:br>
            <a:br>
              <a:rPr lang="en-US" sz="1200" b="0" dirty="0"/>
            </a:br>
            <a:r>
              <a:rPr lang="en-US" sz="1200" b="0" dirty="0"/>
              <a:t>- Comprehensive Integration </a:t>
            </a:r>
          </a:p>
          <a:p>
            <a:pPr algn="l">
              <a:lnSpc>
                <a:spcPct val="80000"/>
              </a:lnSpc>
              <a:buSzPts val="3200"/>
            </a:pPr>
            <a:r>
              <a:rPr lang="en-US" sz="1200" b="0" dirty="0"/>
              <a:t>- User Interface Enhancements</a:t>
            </a:r>
          </a:p>
          <a:p>
            <a:pPr algn="l">
              <a:lnSpc>
                <a:spcPct val="80000"/>
              </a:lnSpc>
              <a:buSzPts val="3200"/>
            </a:pPr>
            <a:br>
              <a:rPr lang="en-US" sz="1200" b="0" dirty="0"/>
            </a:br>
            <a:br>
              <a:rPr lang="en-US" sz="1200" b="0" dirty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5" descr="City Scape" title="City Scap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226" name="Google Shape;226;p5"/>
          <p:cNvSpPr/>
          <p:nvPr/>
        </p:nvSpPr>
        <p:spPr>
          <a:xfrm>
            <a:off x="5218043" y="0"/>
            <a:ext cx="6973956" cy="6858000"/>
          </a:xfrm>
          <a:prstGeom prst="rect">
            <a:avLst/>
          </a:prstGeom>
          <a:solidFill>
            <a:schemeClr val="lt1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5218042" y="82081"/>
            <a:ext cx="4226024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 sz="4400" b="1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ITERATIVE APPROACH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5535163" y="1380629"/>
            <a:ext cx="2675983" cy="54062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Final Version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186189" y="1372089"/>
            <a:ext cx="2675983" cy="54062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Start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5163" y="2036935"/>
            <a:ext cx="6313705" cy="4319415"/>
          </a:xfrm>
          <a:prstGeom prst="rect">
            <a:avLst/>
          </a:prstGeom>
          <a:noFill/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6189" y="2494924"/>
            <a:ext cx="4642992" cy="2822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5"/>
          <p:cNvSpPr/>
          <p:nvPr/>
        </p:nvSpPr>
        <p:spPr>
          <a:xfrm>
            <a:off x="3119376" y="1327259"/>
            <a:ext cx="2077278" cy="54062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6" descr="Building" title="Buildi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64229" y="0"/>
            <a:ext cx="9927771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242" name="Google Shape;242;p6"/>
          <p:cNvSpPr txBox="1">
            <a:spLocks noGrp="1"/>
          </p:cNvSpPr>
          <p:nvPr>
            <p:ph type="body" idx="1"/>
          </p:nvPr>
        </p:nvSpPr>
        <p:spPr>
          <a:xfrm>
            <a:off x="788480" y="1407627"/>
            <a:ext cx="7844407" cy="398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br>
              <a:rPr lang="en-US"/>
            </a:br>
            <a:endParaRPr/>
          </a:p>
        </p:txBody>
      </p:sp>
      <p:grpSp>
        <p:nvGrpSpPr>
          <p:cNvPr id="243" name="Google Shape;243;p6"/>
          <p:cNvGrpSpPr/>
          <p:nvPr/>
        </p:nvGrpSpPr>
        <p:grpSpPr>
          <a:xfrm>
            <a:off x="883521" y="408326"/>
            <a:ext cx="10402957" cy="5948023"/>
            <a:chOff x="883522" y="408326"/>
            <a:chExt cx="5276606" cy="5948023"/>
          </a:xfrm>
        </p:grpSpPr>
        <p:sp>
          <p:nvSpPr>
            <p:cNvPr id="244" name="Google Shape;244;p6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5" name="Google Shape;245;p6" descr="Open square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6"/>
            <p:cNvSpPr/>
            <p:nvPr/>
          </p:nvSpPr>
          <p:spPr>
            <a:xfrm>
              <a:off x="883522" y="408326"/>
              <a:ext cx="4532706" cy="59480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6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50" name="Google Shape;25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200" y="876100"/>
            <a:ext cx="8689451" cy="5432425"/>
          </a:xfrm>
          <a:prstGeom prst="rect">
            <a:avLst/>
          </a:prstGeom>
          <a:noFill/>
          <a:ln>
            <a:noFill/>
          </a:ln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51" name="Google Shape;251;p6"/>
          <p:cNvSpPr txBox="1">
            <a:spLocks noGrp="1"/>
          </p:cNvSpPr>
          <p:nvPr>
            <p:ph type="title"/>
          </p:nvPr>
        </p:nvSpPr>
        <p:spPr>
          <a:xfrm>
            <a:off x="-119733" y="523845"/>
            <a:ext cx="7844407" cy="58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Font typeface="Calibri"/>
              <a:buNone/>
            </a:pPr>
            <a:r>
              <a:rPr lang="en-US" sz="2400"/>
              <a:t>SYSTEM DESIGN AND UML DIAGRAM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7" descr="City Scape" title="City Scap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724988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grpSp>
        <p:nvGrpSpPr>
          <p:cNvPr id="259" name="Google Shape;259;p7"/>
          <p:cNvGrpSpPr/>
          <p:nvPr/>
        </p:nvGrpSpPr>
        <p:grpSpPr>
          <a:xfrm flipH="1">
            <a:off x="1689651" y="252563"/>
            <a:ext cx="9859615" cy="5995838"/>
            <a:chOff x="252031" y="391887"/>
            <a:chExt cx="7433283" cy="6215741"/>
          </a:xfrm>
        </p:grpSpPr>
        <p:sp>
          <p:nvSpPr>
            <p:cNvPr id="260" name="Google Shape;260;p7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69803"/>
                  </a:srgbClr>
                </a:gs>
                <a:gs pos="50000">
                  <a:srgbClr val="05EE55">
                    <a:alpha val="69803"/>
                  </a:srgbClr>
                </a:gs>
                <a:gs pos="100000">
                  <a:srgbClr val="C0F400">
                    <a:alpha val="6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7"/>
          <p:cNvSpPr txBox="1">
            <a:spLocks noGrp="1"/>
          </p:cNvSpPr>
          <p:nvPr>
            <p:ph type="title"/>
          </p:nvPr>
        </p:nvSpPr>
        <p:spPr>
          <a:xfrm>
            <a:off x="2456496" y="887307"/>
            <a:ext cx="6117771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JAVA TOPICS EMPLOYED</a:t>
            </a:r>
            <a:endParaRPr/>
          </a:p>
        </p:txBody>
      </p:sp>
      <p:sp>
        <p:nvSpPr>
          <p:cNvPr id="264" name="Google Shape;264;p7"/>
          <p:cNvSpPr txBox="1">
            <a:spLocks noGrp="1"/>
          </p:cNvSpPr>
          <p:nvPr>
            <p:ph type="body" idx="3"/>
          </p:nvPr>
        </p:nvSpPr>
        <p:spPr>
          <a:xfrm>
            <a:off x="3513610" y="1555002"/>
            <a:ext cx="8099116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</a:pPr>
            <a:r>
              <a:rPr lang="en-US"/>
              <a:t>Final program incorporates the following</a:t>
            </a:r>
            <a:endParaRPr/>
          </a:p>
        </p:txBody>
      </p:sp>
      <p:sp>
        <p:nvSpPr>
          <p:cNvPr id="265" name="Google Shape;265;p7"/>
          <p:cNvSpPr txBox="1">
            <a:spLocks noGrp="1"/>
          </p:cNvSpPr>
          <p:nvPr>
            <p:ph type="body" idx="1"/>
          </p:nvPr>
        </p:nvSpPr>
        <p:spPr>
          <a:xfrm>
            <a:off x="3513609" y="2096039"/>
            <a:ext cx="8114701" cy="354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dirty="0"/>
              <a:t>Class definition</a:t>
            </a:r>
          </a:p>
          <a:p>
            <a:pPr marL="228600" indent="-228600"/>
            <a:r>
              <a:rPr lang="en-US" dirty="0"/>
              <a:t>Inheritance and polymorphism</a:t>
            </a:r>
          </a:p>
          <a:p>
            <a:pPr marL="228600" indent="-228600"/>
            <a:r>
              <a:rPr lang="en-US" dirty="0"/>
              <a:t>Lists</a:t>
            </a:r>
          </a:p>
          <a:p>
            <a:pPr marL="228600" indent="-228600"/>
            <a:r>
              <a:rPr lang="en-US" dirty="0"/>
              <a:t>Sets</a:t>
            </a:r>
          </a:p>
          <a:p>
            <a:pPr marL="228600" indent="-228600"/>
            <a:r>
              <a:rPr lang="en-US" dirty="0"/>
              <a:t>Iterators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dirty="0"/>
              <a:t>Abstract class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dirty="0"/>
              <a:t>Interface</a:t>
            </a:r>
          </a:p>
        </p:txBody>
      </p:sp>
      <p:sp>
        <p:nvSpPr>
          <p:cNvPr id="266" name="Google Shape;266;p7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>
            <a:spLocks noGrp="1"/>
          </p:cNvSpPr>
          <p:nvPr>
            <p:ph type="title" idx="4294967295"/>
          </p:nvPr>
        </p:nvSpPr>
        <p:spPr>
          <a:xfrm>
            <a:off x="298173" y="0"/>
            <a:ext cx="3963343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JAVA TECHNIQUES EMPLOYED</a:t>
            </a:r>
            <a:endParaRPr/>
          </a:p>
        </p:txBody>
      </p:sp>
      <p:sp>
        <p:nvSpPr>
          <p:cNvPr id="274" name="Google Shape;274;p8"/>
          <p:cNvSpPr txBox="1"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</a:pPr>
            <a:r>
              <a:rPr lang="en-US"/>
              <a:t>Inheritance and polymorphism</a:t>
            </a:r>
            <a:endParaRPr/>
          </a:p>
        </p:txBody>
      </p:sp>
      <p:sp>
        <p:nvSpPr>
          <p:cNvPr id="275" name="Google Shape;275;p8"/>
          <p:cNvSpPr txBox="1">
            <a:spLocks noGrp="1"/>
          </p:cNvSpPr>
          <p:nvPr>
            <p:ph type="body" idx="2"/>
          </p:nvPr>
        </p:nvSpPr>
        <p:spPr>
          <a:xfrm>
            <a:off x="573882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dirty="0"/>
              <a:t>Inheritance: </a:t>
            </a:r>
            <a:br>
              <a:rPr lang="en-US" dirty="0"/>
            </a:br>
            <a:r>
              <a:rPr lang="en-US" dirty="0"/>
              <a:t>Vehicle Class VS Car, Truck, Van and Motorcycle Class</a:t>
            </a:r>
            <a:endParaRPr dirty="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dirty="0" err="1"/>
              <a:t>Polymorhism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vehicle.makeSound</a:t>
            </a:r>
            <a:r>
              <a:rPr lang="en-US" dirty="0"/>
              <a:t>() implementation is overridden by subclass’s versions, so depending on the vehicle type, </a:t>
            </a:r>
            <a:r>
              <a:rPr lang="en-US" dirty="0" err="1"/>
              <a:t>makeSound</a:t>
            </a:r>
            <a:r>
              <a:rPr lang="en-US" dirty="0"/>
              <a:t>() method will produce different results.   </a:t>
            </a:r>
            <a:endParaRPr dirty="0"/>
          </a:p>
        </p:txBody>
      </p:sp>
      <p:pic>
        <p:nvPicPr>
          <p:cNvPr id="276" name="Google Shape;276;p8" descr="two buildings" title="two buildings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9082" y="489291"/>
            <a:ext cx="2873833" cy="5920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78" name="Google Shape;278;p8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1AEEA1-5E8A-4353-8D61-11AD72327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096854" y="499284"/>
            <a:ext cx="3315394" cy="2209800"/>
          </a:xfrm>
          <a:prstGeom prst="rect">
            <a:avLst/>
          </a:prstGeom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B6CE5A-3A76-4878-B1E9-224D43E96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53398" y="5153019"/>
            <a:ext cx="2311402" cy="1485877"/>
          </a:xfrm>
          <a:prstGeom prst="rect">
            <a:avLst/>
          </a:prstGeom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225557-64EB-4881-89F7-BF75A8D40C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096854" y="2851832"/>
            <a:ext cx="3315395" cy="2209800"/>
          </a:xfrm>
          <a:prstGeom prst="rect">
            <a:avLst/>
          </a:prstGeom>
          <a:effectLst>
            <a:outerShdw blurRad="50800" dist="50800" dir="252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8CBA0EE-6586-470F-97C0-7F1E66B1AC57}"/>
              </a:ext>
            </a:extLst>
          </p:cNvPr>
          <p:cNvSpPr/>
          <p:nvPr/>
        </p:nvSpPr>
        <p:spPr>
          <a:xfrm rot="370063">
            <a:off x="10330259" y="2902632"/>
            <a:ext cx="1287859" cy="716868"/>
          </a:xfrm>
          <a:prstGeom prst="wedgeRoundRectCallou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Beep - Beep!!!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140A4B94-65A9-4C68-8C9D-439C2A4D09AA}"/>
              </a:ext>
            </a:extLst>
          </p:cNvPr>
          <p:cNvSpPr/>
          <p:nvPr/>
        </p:nvSpPr>
        <p:spPr>
          <a:xfrm rot="20669046" flipH="1">
            <a:off x="7492368" y="566201"/>
            <a:ext cx="1625005" cy="600431"/>
          </a:xfrm>
          <a:prstGeom prst="wedgeRoundRectCallou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Grrrr-Grroom</a:t>
            </a:r>
            <a:r>
              <a:rPr lang="en-US" dirty="0"/>
              <a:t>!!!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ADF7959C-0D4C-49E6-99F3-AC7AAF7E97EB}"/>
              </a:ext>
            </a:extLst>
          </p:cNvPr>
          <p:cNvSpPr/>
          <p:nvPr/>
        </p:nvSpPr>
        <p:spPr>
          <a:xfrm rot="1127541">
            <a:off x="10307417" y="5266270"/>
            <a:ext cx="1287859" cy="716868"/>
          </a:xfrm>
          <a:prstGeom prst="wedgeRoundRectCallou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Weeeeee</a:t>
            </a:r>
            <a:r>
              <a:rPr lang="en-US" dirty="0"/>
              <a:t>!!!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 txBox="1">
            <a:spLocks noGrp="1"/>
          </p:cNvSpPr>
          <p:nvPr>
            <p:ph type="title" idx="4294967295"/>
          </p:nvPr>
        </p:nvSpPr>
        <p:spPr>
          <a:xfrm>
            <a:off x="298173" y="0"/>
            <a:ext cx="3963343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JAVA TECHNIQUES EMPLOYED</a:t>
            </a:r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</a:pPr>
            <a:r>
              <a:rPr lang="en-US" dirty="0"/>
              <a:t>Lists and Sets</a:t>
            </a:r>
            <a:endParaRPr dirty="0"/>
          </a:p>
        </p:txBody>
      </p:sp>
      <p:sp>
        <p:nvSpPr>
          <p:cNvPr id="286" name="Google Shape;286;p9"/>
          <p:cNvSpPr txBox="1">
            <a:spLocks noGrp="1"/>
          </p:cNvSpPr>
          <p:nvPr>
            <p:ph type="body" idx="2"/>
          </p:nvPr>
        </p:nvSpPr>
        <p:spPr>
          <a:xfrm>
            <a:off x="573882" y="1870155"/>
            <a:ext cx="3464717" cy="454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Lists</a:t>
            </a:r>
            <a:r>
              <a:rPr lang="en-US" dirty="0"/>
              <a:t>: Our application uses lists to store and dynamically update collections of </a:t>
            </a:r>
            <a:r>
              <a:rPr lang="en-US" dirty="0" err="1"/>
              <a:t>ParkingSpots</a:t>
            </a:r>
            <a:r>
              <a:rPr lang="en-US" dirty="0"/>
              <a:t> and Vehicles. Examples include adding/removing parked vehicles and managing parking spots.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Sets</a:t>
            </a:r>
            <a:r>
              <a:rPr lang="en-US" dirty="0"/>
              <a:t>: Used to ensure the uniqueness of parked vehicles by validating the vehicle’s license plate.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Value</a:t>
            </a:r>
            <a:r>
              <a:rPr lang="en-US" dirty="0"/>
              <a:t>: Lists and sets keep the user interface synced with application data</a:t>
            </a:r>
          </a:p>
        </p:txBody>
      </p:sp>
      <p:sp>
        <p:nvSpPr>
          <p:cNvPr id="288" name="Google Shape;288;p9"/>
          <p:cNvSpPr txBox="1">
            <a:spLocks noGrp="1"/>
          </p:cNvSpPr>
          <p:nvPr>
            <p:ph type="body" idx="4"/>
          </p:nvPr>
        </p:nvSpPr>
        <p:spPr>
          <a:xfrm>
            <a:off x="8153401" y="1870155"/>
            <a:ext cx="3464717" cy="432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Implementation</a:t>
            </a:r>
            <a:r>
              <a:rPr lang="en-US" dirty="0"/>
              <a:t>: Used to safely and efficiently loop through parking spot collections without directly managing indexes.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Flexibility</a:t>
            </a:r>
            <a:r>
              <a:rPr lang="en-US" dirty="0"/>
              <a:t>: Combining lists and iterators allows easy scaling, enabling the addition of new spots or lots without altering core logic.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Future Expansion</a:t>
            </a:r>
            <a:r>
              <a:rPr lang="en-US" dirty="0"/>
              <a:t>: This approach provides a foundation for future features, such as advanced parking algorithms or handling larger collections.</a:t>
            </a:r>
          </a:p>
        </p:txBody>
      </p:sp>
      <p:pic>
        <p:nvPicPr>
          <p:cNvPr id="289" name="Google Shape;289;p9" descr="two buildings" title="two buildings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9082" y="489291"/>
            <a:ext cx="2873833" cy="5920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91" name="Google Shape;291;p9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287;p9">
            <a:extLst>
              <a:ext uri="{FF2B5EF4-FFF2-40B4-BE49-F238E27FC236}">
                <a16:creationId xmlns:a16="http://schemas.microsoft.com/office/drawing/2014/main" id="{34BA8932-06D1-7354-2EB3-DA041BB54A12}"/>
              </a:ext>
            </a:extLst>
          </p:cNvPr>
          <p:cNvSpPr txBox="1">
            <a:spLocks/>
          </p:cNvSpPr>
          <p:nvPr/>
        </p:nvSpPr>
        <p:spPr>
          <a:xfrm>
            <a:off x="8084551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Iterators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F12F55A-174A-E089-3346-BA30B954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>
            <a:extLst>
              <a:ext uri="{FF2B5EF4-FFF2-40B4-BE49-F238E27FC236}">
                <a16:creationId xmlns:a16="http://schemas.microsoft.com/office/drawing/2014/main" id="{052224AE-D567-E595-5607-06271903AE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8173" y="0"/>
            <a:ext cx="3963343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JAVA TECHNIQUES EMPLOYED</a:t>
            </a:r>
            <a:endParaRPr/>
          </a:p>
        </p:txBody>
      </p:sp>
      <p:sp>
        <p:nvSpPr>
          <p:cNvPr id="285" name="Google Shape;285;p9">
            <a:extLst>
              <a:ext uri="{FF2B5EF4-FFF2-40B4-BE49-F238E27FC236}">
                <a16:creationId xmlns:a16="http://schemas.microsoft.com/office/drawing/2014/main" id="{713D9421-0E1D-69D3-9F8B-1F64D4389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</a:pPr>
            <a:r>
              <a:rPr lang="en-US" dirty="0"/>
              <a:t>Abstraction</a:t>
            </a:r>
            <a:endParaRPr dirty="0"/>
          </a:p>
        </p:txBody>
      </p:sp>
      <p:sp>
        <p:nvSpPr>
          <p:cNvPr id="286" name="Google Shape;286;p9">
            <a:extLst>
              <a:ext uri="{FF2B5EF4-FFF2-40B4-BE49-F238E27FC236}">
                <a16:creationId xmlns:a16="http://schemas.microsoft.com/office/drawing/2014/main" id="{7D7D4C29-DF78-8F62-5861-ACC94459BBE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73882" y="1870154"/>
            <a:ext cx="3464717" cy="454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indent="-228600">
              <a:spcBef>
                <a:spcPts val="0"/>
              </a:spcBef>
            </a:pPr>
            <a:r>
              <a:rPr lang="en-US" b="1" dirty="0"/>
              <a:t>Abstract Vehicle Class</a:t>
            </a:r>
            <a:r>
              <a:rPr lang="en-US" dirty="0"/>
              <a:t>: Acts as a blueprint with shared attributes like </a:t>
            </a:r>
            <a:r>
              <a:rPr lang="en-US" dirty="0" err="1"/>
              <a:t>plateNumber</a:t>
            </a:r>
            <a:r>
              <a:rPr lang="en-US" dirty="0"/>
              <a:t>, state, and </a:t>
            </a:r>
            <a:r>
              <a:rPr lang="en-US" dirty="0" err="1"/>
              <a:t>isElectric</a:t>
            </a:r>
            <a:r>
              <a:rPr lang="en-US" dirty="0"/>
              <a:t>, and an abstract </a:t>
            </a:r>
            <a:r>
              <a:rPr lang="en-US" dirty="0" err="1"/>
              <a:t>makeSound</a:t>
            </a:r>
            <a:r>
              <a:rPr lang="en-US" dirty="0"/>
              <a:t> method.</a:t>
            </a:r>
          </a:p>
          <a:p>
            <a:pPr marL="228600" indent="-228600">
              <a:spcBef>
                <a:spcPts val="0"/>
              </a:spcBef>
            </a:pPr>
            <a:r>
              <a:rPr lang="en-US" b="1" dirty="0"/>
              <a:t>Subclass Specific Behavior</a:t>
            </a:r>
            <a:r>
              <a:rPr lang="en-US" dirty="0"/>
              <a:t>: Subclasses like Car and Motorcycle implement their own version of </a:t>
            </a:r>
            <a:r>
              <a:rPr lang="en-US" dirty="0" err="1"/>
              <a:t>makeSound</a:t>
            </a:r>
            <a:r>
              <a:rPr lang="en-US" dirty="0"/>
              <a:t>, ensuring unique behavior while maintaining a common structure.</a:t>
            </a:r>
          </a:p>
          <a:p>
            <a:pPr marL="228600" indent="-228600">
              <a:spcBef>
                <a:spcPts val="0"/>
              </a:spcBef>
            </a:pPr>
            <a:r>
              <a:rPr lang="en-US" b="1" dirty="0"/>
              <a:t>Scalability</a:t>
            </a:r>
            <a:r>
              <a:rPr lang="en-US" dirty="0"/>
              <a:t>: Abstraction allows easy addition of new vehicle types (e.g., Bus, RV) by creating subclasses and implementing necessary methods, ensuring flexibility for future growth.</a:t>
            </a:r>
            <a:endParaRPr dirty="0"/>
          </a:p>
        </p:txBody>
      </p:sp>
      <p:sp>
        <p:nvSpPr>
          <p:cNvPr id="287" name="Google Shape;287;p9">
            <a:extLst>
              <a:ext uri="{FF2B5EF4-FFF2-40B4-BE49-F238E27FC236}">
                <a16:creationId xmlns:a16="http://schemas.microsoft.com/office/drawing/2014/main" id="{0C4CE834-D37E-69DD-3A16-A62D468A7A0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153398" y="1046243"/>
            <a:ext cx="3464717" cy="8239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</a:pPr>
            <a:r>
              <a:rPr lang="en-US" dirty="0"/>
              <a:t>Interface</a:t>
            </a:r>
            <a:endParaRPr dirty="0"/>
          </a:p>
        </p:txBody>
      </p:sp>
      <p:sp>
        <p:nvSpPr>
          <p:cNvPr id="288" name="Google Shape;288;p9">
            <a:extLst>
              <a:ext uri="{FF2B5EF4-FFF2-40B4-BE49-F238E27FC236}">
                <a16:creationId xmlns:a16="http://schemas.microsoft.com/office/drawing/2014/main" id="{39EB9094-6B81-7C16-59AE-DD4BAB0DF29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153398" y="1885044"/>
            <a:ext cx="3464717" cy="457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 err="1"/>
              <a:t>Parkable</a:t>
            </a:r>
            <a:r>
              <a:rPr lang="en-US" b="1" dirty="0"/>
              <a:t> Interface</a:t>
            </a:r>
            <a:r>
              <a:rPr lang="en-US" dirty="0"/>
              <a:t>: Defines key behaviors like </a:t>
            </a:r>
            <a:r>
              <a:rPr lang="en-US" dirty="0" err="1"/>
              <a:t>parkVehicle</a:t>
            </a:r>
            <a:r>
              <a:rPr lang="en-US" dirty="0"/>
              <a:t>(), </a:t>
            </a:r>
            <a:r>
              <a:rPr lang="en-US" dirty="0" err="1"/>
              <a:t>removeVehicle</a:t>
            </a:r>
            <a:r>
              <a:rPr lang="en-US" dirty="0"/>
              <a:t>(), and </a:t>
            </a:r>
            <a:r>
              <a:rPr lang="en-US" dirty="0" err="1"/>
              <a:t>isAvailable</a:t>
            </a:r>
            <a:r>
              <a:rPr lang="en-US" dirty="0"/>
              <a:t>() to standardize parking spot operations.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Flexibility</a:t>
            </a:r>
            <a:r>
              <a:rPr lang="en-US" dirty="0"/>
              <a:t>: Allows different types of parking spots (e.g., street parking) to implement the same interface, ensuring consistent behavior across spot types.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</a:pPr>
            <a:r>
              <a:rPr lang="en-US" b="1" dirty="0"/>
              <a:t>Scalability</a:t>
            </a:r>
            <a:r>
              <a:rPr lang="en-US" dirty="0"/>
              <a:t>: Supports easy expansion, enabling new features (like valet parking or dynamic pricing) through new classes that implement </a:t>
            </a:r>
            <a:r>
              <a:rPr lang="en-US" dirty="0" err="1"/>
              <a:t>Parkable</a:t>
            </a:r>
            <a:r>
              <a:rPr lang="en-US" dirty="0"/>
              <a:t> without affecting existing functionality.</a:t>
            </a:r>
            <a:endParaRPr dirty="0"/>
          </a:p>
        </p:txBody>
      </p:sp>
      <p:pic>
        <p:nvPicPr>
          <p:cNvPr id="289" name="Google Shape;289;p9" descr="two buildings" title="two buildings">
            <a:extLst>
              <a:ext uri="{FF2B5EF4-FFF2-40B4-BE49-F238E27FC236}">
                <a16:creationId xmlns:a16="http://schemas.microsoft.com/office/drawing/2014/main" id="{A103927C-44BB-4082-4904-D16BC295B7DB}"/>
              </a:ext>
            </a:extLst>
          </p:cNvPr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9082" y="489291"/>
            <a:ext cx="2873833" cy="5920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91" name="Google Shape;291;p9">
            <a:extLst>
              <a:ext uri="{FF2B5EF4-FFF2-40B4-BE49-F238E27FC236}">
                <a16:creationId xmlns:a16="http://schemas.microsoft.com/office/drawing/2014/main" id="{50631277-1300-F223-9071-081A8A510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678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0" descr="abstract building" title="abstract buildi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 flipH="1">
            <a:off x="3136272" y="2054619"/>
            <a:ext cx="5386926" cy="2131595"/>
          </a:xfrm>
          <a:prstGeom prst="rect">
            <a:avLst/>
          </a:prstGeom>
          <a:gradFill>
            <a:gsLst>
              <a:gs pos="0">
                <a:srgbClr val="038B30">
                  <a:alpha val="69803"/>
                </a:srgbClr>
              </a:gs>
              <a:gs pos="50000">
                <a:srgbClr val="05EE55">
                  <a:alpha val="69803"/>
                </a:srgbClr>
              </a:gs>
              <a:gs pos="100000">
                <a:srgbClr val="C0F400">
                  <a:alpha val="6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 flipH="1">
            <a:off x="791413" y="502215"/>
            <a:ext cx="10638585" cy="5706080"/>
          </a:xfrm>
          <a:prstGeom prst="rect">
            <a:avLst/>
          </a:prstGeom>
          <a:noFill/>
          <a:ln w="88900" cap="flat" cmpd="sng">
            <a:solidFill>
              <a:srgbClr val="2F334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402538" y="2201830"/>
            <a:ext cx="5386924" cy="26340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>
            <a:spLocks noGrp="1"/>
          </p:cNvSpPr>
          <p:nvPr>
            <p:ph type="title"/>
          </p:nvPr>
        </p:nvSpPr>
        <p:spPr>
          <a:xfrm>
            <a:off x="3790297" y="2354458"/>
            <a:ext cx="4369521" cy="183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 sz="3200" cap="none" dirty="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Final Thoughts</a:t>
            </a:r>
            <a:endParaRPr dirty="0"/>
          </a:p>
        </p:txBody>
      </p:sp>
      <p:sp>
        <p:nvSpPr>
          <p:cNvPr id="303" name="Google Shape;303;p10"/>
          <p:cNvSpPr/>
          <p:nvPr/>
        </p:nvSpPr>
        <p:spPr>
          <a:xfrm flipH="1">
            <a:off x="11549268" y="6356350"/>
            <a:ext cx="672142" cy="501650"/>
          </a:xfrm>
          <a:prstGeom prst="snip1Rect">
            <a:avLst>
              <a:gd name="adj" fmla="val 16667"/>
            </a:avLst>
          </a:prstGeom>
          <a:solidFill>
            <a:srgbClr val="2F3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>
            <a:spLocks noGrp="1"/>
          </p:cNvSpPr>
          <p:nvPr>
            <p:ph type="sldNum" idx="12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F400"/>
      </a:accent1>
      <a:accent2>
        <a:srgbClr val="05D74D"/>
      </a:accent2>
      <a:accent3>
        <a:srgbClr val="2F3342"/>
      </a:accent3>
      <a:accent4>
        <a:srgbClr val="038B30"/>
      </a:accent4>
      <a:accent5>
        <a:srgbClr val="05EE55"/>
      </a:accent5>
      <a:accent6>
        <a:srgbClr val="70AD47"/>
      </a:accent6>
      <a:hlink>
        <a:srgbClr val="05D74D"/>
      </a:hlink>
      <a:folHlink>
        <a:srgbClr val="C0F4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603</Words>
  <Application>Microsoft Macintosh PowerPoint</Application>
  <PresentationFormat>Widescreen</PresentationFormat>
  <Paragraphs>891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NORTHEASTERN UNIVERSITY   PARKING LOT MANAGEMENT SYSTEM</vt:lpstr>
      <vt:lpstr>FUNCTIONAL GOAL OF THE APPLICATION</vt:lpstr>
      <vt:lpstr>IMPLEMENTATION</vt:lpstr>
      <vt:lpstr>Version 1  - Initial Program Development  - Testing  </vt:lpstr>
      <vt:lpstr>PowerPoint Presentation</vt:lpstr>
      <vt:lpstr>SYSTEM DESIGN AND UML DIAGRAM</vt:lpstr>
      <vt:lpstr>JAVA TOPICS EMPLOYED</vt:lpstr>
      <vt:lpstr>JAVA TECHNIQUES EMPLOYED</vt:lpstr>
      <vt:lpstr>JAVA TECHNIQUES EMPLOYED</vt:lpstr>
      <vt:lpstr>JAVA TECHNIQUES EMPLOYED</vt:lpstr>
      <vt:lpstr>Final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NORTHEASTERN UNIVERSITY   PARKING LOT MANAGEMENT SYSTEM</dc:title>
  <cp:lastModifiedBy>Aldridge, Douglas</cp:lastModifiedBy>
  <cp:revision>16</cp:revision>
  <dcterms:created xsi:type="dcterms:W3CDTF">2024-12-03T23:21:52Z</dcterms:created>
  <dcterms:modified xsi:type="dcterms:W3CDTF">2024-12-07T14:46:00Z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